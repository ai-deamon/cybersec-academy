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767" y="2527994"/>
            <a:ext cx="2760464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13020" y="3061394"/>
            <a:ext cx="5165958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Network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76512" y="3922365"/>
            <a:ext cx="7038975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Firewalls, Intrusion Prevention, VPN Tunnels, Segmentation &amp; ACL Logic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692" y="2623244"/>
            <a:ext cx="146744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50256"/>
            <a:ext cx="5324475" cy="3529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50256"/>
            <a:ext cx="5324475" cy="3529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364581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2812256"/>
            <a:ext cx="4930616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Stateless Firewalls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221831"/>
            <a:ext cx="469582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Operation: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Filters packets independently based solely on Layer 3 and Layer 4 static header values (IPs, Ports, Protocols).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064793"/>
            <a:ext cx="46958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Key Trait: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Evaluates each packet in isolation without maintaining session history or connection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664868"/>
            <a:ext cx="46958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Limitation: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Vulnerable to IP spoofing and ACK-scan bypasses; requires manual dual-direction rule definitions.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364581"/>
            <a:ext cx="3429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00825" y="2812256"/>
            <a:ext cx="4930616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Stateful Firewalls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221831"/>
            <a:ext cx="46958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Operation: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Tracks TCP handshakes and active session contexts in a real-time dynamic State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821906"/>
            <a:ext cx="46958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Key Trait: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Automatically allows return traffic for validated established connections without explicit inbound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4421981"/>
            <a:ext cx="46958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Advantage: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Prevents unsolicited probe packets, detects illegal sequence numbers, and simplifies policy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Firewall Core Types &amp; State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025" y="92392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257425"/>
          <a:ext cx="11010898" cy="3114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58801"/>
                <a:gridCol w="3068538"/>
                <a:gridCol w="2548235"/>
                <a:gridCol w="2835324"/>
              </a:tblGrid>
              <a:tr h="51911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Capability 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Stateless (ACL Router)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Stateful Inspection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Next-Gen (NGFW)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1911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OSI Layer Inspection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Layer 3 / Layer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Layer 3 / Layer 4 + 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Layer 3 through Layer 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911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State Table Tracking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 State 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TCP/UDP State 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State + App Context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911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Deep Payload Inspection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None (Headers Only)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Header &amp; Handshake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Full DPI &amp; Malware Scan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911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App &amp; Identity Awareness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Port-based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Port-based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App-ID &amp; User-ID mapping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91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Performance Profile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Ultra High (Hardware wire speed)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High (Low latency)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Moderate to High (DPI engine)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2781300"/>
            <a:ext cx="2558801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49351" y="2781300"/>
            <a:ext cx="3068538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890" y="2781300"/>
            <a:ext cx="254823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6125" y="2781300"/>
            <a:ext cx="2835324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3305175"/>
            <a:ext cx="255880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49351" y="3305175"/>
            <a:ext cx="306853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890" y="3305175"/>
            <a:ext cx="25482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66125" y="3305175"/>
            <a:ext cx="283532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0550" y="3819525"/>
            <a:ext cx="255880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49351" y="3819525"/>
            <a:ext cx="306853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890" y="3819525"/>
            <a:ext cx="25482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6125" y="3819525"/>
            <a:ext cx="283532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" y="4333875"/>
            <a:ext cx="255880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49351" y="4333875"/>
            <a:ext cx="306853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890" y="4333875"/>
            <a:ext cx="25482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66125" y="4333875"/>
            <a:ext cx="283532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0550" y="4848225"/>
            <a:ext cx="255880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49351" y="4848225"/>
            <a:ext cx="306853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890" y="4848225"/>
            <a:ext cx="25482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6125" y="4848225"/>
            <a:ext cx="283532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851" y="3429000"/>
            <a:ext cx="1266825" cy="2762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390" y="3429000"/>
            <a:ext cx="1743075" cy="2762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6625" y="3429000"/>
            <a:ext cx="1714500" cy="2762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Firewall Generations 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1025" y="92392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7393"/>
            <a:ext cx="5324475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007393"/>
            <a:ext cx="559069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Detection vs Prevention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416968"/>
            <a:ext cx="50958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IDS (Intrusion Detection System):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Deployed out-of-band via SPAN/TAP ports. Passive monitoring produces alerts without introducing inline latency.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278981"/>
            <a:ext cx="50958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IPS (Intrusion Prevention System):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Deployed inline directly along traffic flow. Actively blocks malicious packets, drops connections, and resets TCP sessions.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140993"/>
            <a:ext cx="50958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Response Speed: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IDS requires SOC analyst or automated SIEM playbook intervention; IPS executes automated real-time inline mitigation.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5003006"/>
            <a:ext cx="5095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Risk Tradeoff: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IPS misconfigurations risk blocking legitimate business traffic (false positive impacts productivity).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16918"/>
            <a:ext cx="5305425" cy="3409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416968"/>
            <a:ext cx="762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8BDF8"/>
                </a:solidFill>
                <a:latin typeface="Plus Jakarta Sans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278981"/>
            <a:ext cx="762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8BDF8"/>
                </a:solidFill>
                <a:latin typeface="Plus Jakarta Sans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140993"/>
            <a:ext cx="762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8BDF8"/>
                </a:solidFill>
                <a:latin typeface="Plus Jakarta Sans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003006"/>
            <a:ext cx="762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8BDF8"/>
                </a:solidFill>
                <a:latin typeface="Plus Jakarta Sans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IDS vs IPS Architectural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1025" y="92392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28837"/>
            <a:ext cx="3486150" cy="3371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128837"/>
            <a:ext cx="3486150" cy="3371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128837"/>
            <a:ext cx="3486150" cy="3371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42411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224212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Signature-Based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633787"/>
            <a:ext cx="2895600" cy="1457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Matches traffic against database of known exploit patterns &amp; hash signatures. High accuracy with minimal false positives, but completely blind to zero-day vulnerabilities.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42411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224212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Anomaly-Based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633787"/>
            <a:ext cx="2895600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Establishes baseline normal network behavior and triggers alerts on statistical deviations. Detects novel zero-day threats, but incurs higher false positive rates.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42411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224212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Behavioral Heuristics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633787"/>
            <a:ext cx="2895600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Combines machine learning rules with protocol analysis to identify suspicious actions (e.g., rapid port scans or DNS tunneling) regardless of payload signature.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557462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550" y="2557462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3450" y="2557462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IDS/IPS Detection Engines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92392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VPN Tunnels &amp; Protocols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101917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1025" y="1352550"/>
            <a:ext cx="554069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Securing Data in Transit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762125"/>
            <a:ext cx="52768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Virtual Private Networks create encrypted tunnels across untrusted transit networks, ensuring Confidentiality, Integrity, and Authentication.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767756"/>
            <a:ext cx="52768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Site-to-Site VPNs: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Interconnect static corporate offices using IPsec (IKEv2) hardware gateways with ESP encryption.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499098"/>
            <a:ext cx="52768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Remote Access VPNs: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Connect mobile users to internal gateways using SSL/TLS (OpenVPN) or modern WireGuard protocols.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650" y="2405062"/>
            <a:ext cx="106013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1F5F9"/>
                </a:solidFill>
                <a:latin typeface="Plus Jakarta Sans"/>
              </a:rPr>
              <a:t>Legacy Ciphers &amp; Broken Hashing: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Enabling outdated crypto suites like 3DES, RC4, or MD5 allows session decryption and man-in-the-middle attacks.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650" y="3109912"/>
            <a:ext cx="106013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1F5F9"/>
                </a:solidFill>
                <a:latin typeface="Plus Jakarta Sans"/>
              </a:rPr>
              <a:t>Weak Pre-Shared Keys (PSK):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Utilizing low-entropy static passwords for IPsec Phase 1 negotiation makes tunnels vulnerable to offline dictionary brute-forcing.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3814762"/>
            <a:ext cx="106013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1F5F9"/>
                </a:solidFill>
                <a:latin typeface="Plus Jakarta Sans"/>
              </a:rPr>
              <a:t>Uncontrolled Split Tunneling: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Allowing endpoint internet traffic to bypass the VPN tunnel exposes client devices to malware while bridging internal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4519612"/>
            <a:ext cx="106013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1F5F9"/>
                </a:solidFill>
                <a:latin typeface="Plus Jakarta Sans"/>
              </a:rPr>
              <a:t>Missing Perfect Forward Secrecy (PFS):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Disabling Diffie-Hellman re-keying guarantees that compromised long-term private keys decrypt all historical recorded session traffic.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28875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133725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38575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543425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Critical VPN Misconfigurations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92392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28850"/>
            <a:ext cx="5324475" cy="3171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28850"/>
            <a:ext cx="5324475" cy="3171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543175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2990850"/>
            <a:ext cx="4930616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Proxy Server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400425"/>
            <a:ext cx="469582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Forward Proxy: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Sits on client perimeter to inspect outgoing requests, filter URLs, terminate SSL for scanning, and block unauthorized data exfiltration.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243387"/>
            <a:ext cx="469582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Reverse Proxy: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Positioned in front of servers to perform web application firewalling (WAF), load balancing, and hide internal network topology.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543175"/>
            <a:ext cx="3429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0825" y="2990850"/>
            <a:ext cx="4930616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Segmentation &amp; DMZ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400425"/>
            <a:ext cx="469582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VLAN &amp; Subnet Isolation: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Divides physical networks into distinct security zones (DMZ, Internal App, Database, Management) to prevent lateral attacker movement.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4243387"/>
            <a:ext cx="469582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Zero-Trust Microsegmentation: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Enforces granular east-west security policies down to individual workloads, restricting unauthorized peer communication.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Proxies &amp; Network Segmentation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92392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88381"/>
            <a:ext cx="5324475" cy="2190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" y="2678906"/>
            <a:ext cx="4543425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38BDF8"/>
                </a:solidFill>
                <a:latin typeface="Space Grotesk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821906"/>
            <a:ext cx="45434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Plus Jakarta Sans"/>
              </a:rPr>
              <a:t>Implicit Deny Any Any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288381"/>
            <a:ext cx="559069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First-Match Execution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697956"/>
            <a:ext cx="53244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Access Control Lists (ACLs) process incoming packets strictly sequentially from top to bottom based on line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298031"/>
            <a:ext cx="53244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1. First Match Standard: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As soon as a packet matches a rule's parameters, that action (Permit/Deny) executes instantly; evaluation stops.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140993"/>
            <a:ext cx="53244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2. Specificity Rule: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Specific host/port rules MUST be placed above broad network range rules to avoid unintended overrides.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741068"/>
            <a:ext cx="53244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Plus Jakarta Sans"/>
              </a:rPr>
              <a:t>3. Default Fallback: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Any traffic not explicitly allowed by preceding rules hits Rule 0 (Implicit Deny) and is silently dropped.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ACL Logic: Top-Down Rule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92392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257425"/>
          <a:ext cx="11010897" cy="3114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910381"/>
                <a:gridCol w="1130796"/>
                <a:gridCol w="1054000"/>
                <a:gridCol w="1724917"/>
                <a:gridCol w="2012305"/>
                <a:gridCol w="4178498"/>
              </a:tblGrid>
              <a:tr h="51911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Rule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Protocol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Source IP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Dest IP / 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Operational Intent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1911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PERMIT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TCP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10.0.1.0/24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192.168.1.10:443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Allow LAN access to internal HTTPS Server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911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PERMIT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TCP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10.0.1.50/32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192.168.1.5:22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Allow Admin Workstation SSH to Management Server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911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DENY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TCP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ANY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192.168.1.0/24:22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Block SSH attempts from all other sources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911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DENY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ICMP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ANY (External)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ANY (Internal)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Block external ping sweep reconnaissance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911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999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DENY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IP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ANY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Fira Code"/>
                        </a:rPr>
                        <a:t>ANY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Default Implicit Deny All Traffic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2781300"/>
            <a:ext cx="910381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0931" y="2781300"/>
            <a:ext cx="1130796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31727" y="2781300"/>
            <a:ext cx="1054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85728" y="2781300"/>
            <a:ext cx="1724917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10646" y="2781300"/>
            <a:ext cx="201230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22951" y="2781300"/>
            <a:ext cx="4178498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0550" y="3305175"/>
            <a:ext cx="91038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0931" y="3305175"/>
            <a:ext cx="11307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31727" y="3305175"/>
            <a:ext cx="1054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85728" y="3305175"/>
            <a:ext cx="172491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10646" y="3305175"/>
            <a:ext cx="20123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22951" y="3305175"/>
            <a:ext cx="41784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" y="3819525"/>
            <a:ext cx="91038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00931" y="3819525"/>
            <a:ext cx="11307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31727" y="3819525"/>
            <a:ext cx="1054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85728" y="3819525"/>
            <a:ext cx="172491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10646" y="3819525"/>
            <a:ext cx="20123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22951" y="3819525"/>
            <a:ext cx="41784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0550" y="4333875"/>
            <a:ext cx="91038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00931" y="4333875"/>
            <a:ext cx="11307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31727" y="4333875"/>
            <a:ext cx="1054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85728" y="4333875"/>
            <a:ext cx="172491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10646" y="4333875"/>
            <a:ext cx="20123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2951" y="4333875"/>
            <a:ext cx="41784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0550" y="4848225"/>
            <a:ext cx="91038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00931" y="4848225"/>
            <a:ext cx="11307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31727" y="4848225"/>
            <a:ext cx="1054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85728" y="4848225"/>
            <a:ext cx="172491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10646" y="4848225"/>
            <a:ext cx="20123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22951" y="4848225"/>
            <a:ext cx="41784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431" y="2914650"/>
            <a:ext cx="742950" cy="2762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431" y="3429000"/>
            <a:ext cx="742950" cy="2762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431" y="3943350"/>
            <a:ext cx="619125" cy="2762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431" y="4457700"/>
            <a:ext cx="619125" cy="2762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431" y="4972050"/>
            <a:ext cx="619125" cy="2762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Packet Filtering ACL Matrix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1025" y="92392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57300"/>
            <a:ext cx="11029950" cy="5114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6803" y="4662487"/>
            <a:ext cx="1047839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1" u="none">
                <a:solidFill>
                  <a:srgbClr val="94A3B8"/>
                </a:solidFill>
                <a:latin typeface="Plus Jakarta Sans"/>
              </a:rPr>
              <a:t>Simulated Packet Filter Run: 88% of standard user web queries matched Rule 10 successfully. All unauthorized SSH probes on Port 22 and external ICMP reconnaissance were blocked by Rule 30 &amp; 40, triggering automated SIEM alerts.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Lab Simulation: Filtered Traffic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2392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387" y="2362200"/>
            <a:ext cx="4467225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485775"/>
            <a:ext cx="11581447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Space Grotesk"/>
              </a:rPr>
              <a:t>Questions &amp; Lab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552575"/>
            <a:ext cx="110299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Review packet simulation logs, verify ACL sequence numbers, and test state table dynamics.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662" y="2514600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962275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37242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7242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051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3112293"/>
            <a:ext cx="99345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https://cdn.automationforum.co/uploads/2026/07/Top-Cybersecurity-Threat-Identification-Methods-Every-Security-Professional-Should-Know-2-1024x559.jpg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345656"/>
            <a:ext cx="9934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automationforum.co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6240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3876675"/>
            <a:ext cx="99345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https://static.vecteezy.com/system/resources/previews/013/069/817/large_2x/vpn-secure-connection-concept-person-using-virtual-private-network-technology-to-create-encrypted-tunnel-to-remote-server-on-internet-to-protect-data-privacy-or-bypass-censorship-photo.jpg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295775"/>
            <a:ext cx="9934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www.vecteezy.com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025" y="923925"/>
            <a:ext cx="95250" cy="30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