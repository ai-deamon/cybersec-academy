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A1811B-3495-4F26-AF44-05E25336E33B}">
  <a:tblStyle styleId="{E5A1811B-3495-4F26-AF44-05E25336E3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10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10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35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8.png"/><Relationship Id="rId13" Type="http://schemas.openxmlformats.org/officeDocument/2006/relationships/image" Target="../media/image4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40.png"/><Relationship Id="rId7" Type="http://schemas.openxmlformats.org/officeDocument/2006/relationships/image" Target="../media/image52.png"/><Relationship Id="rId8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50.png"/><Relationship Id="rId13" Type="http://schemas.openxmlformats.org/officeDocument/2006/relationships/image" Target="../media/image45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9" Type="http://schemas.openxmlformats.org/officeDocument/2006/relationships/image" Target="../media/image55.png"/><Relationship Id="rId5" Type="http://schemas.openxmlformats.org/officeDocument/2006/relationships/image" Target="../media/image42.png"/><Relationship Id="rId6" Type="http://schemas.openxmlformats.org/officeDocument/2006/relationships/image" Target="../media/image54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59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3.png"/><Relationship Id="rId8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Relationship Id="rId6" Type="http://schemas.openxmlformats.org/officeDocument/2006/relationships/image" Target="../media/image58.png"/><Relationship Id="rId7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3344"/>
          <a:stretch/>
        </p:blipFill>
        <p:spPr>
          <a:xfrm>
            <a:off x="0" y="229650"/>
            <a:ext cx="12192000" cy="662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825" y="2157412"/>
            <a:ext cx="28003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65633" y="2681287"/>
            <a:ext cx="5860732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Malware &amp; Common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Cyber Attacks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81325" y="4443412"/>
            <a:ext cx="62293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Anatomy of threat vectors, payload analysis, and structural defenses.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894"/>
          <a:stretch/>
        </p:blipFill>
        <p:spPr>
          <a:xfrm>
            <a:off x="0" y="198325"/>
            <a:ext cx="12192000" cy="6659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76512"/>
            <a:ext cx="51435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6512"/>
            <a:ext cx="51435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43025" y="2871787"/>
            <a:ext cx="44805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 Core Attacks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057275" y="3300412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3462337"/>
            <a:ext cx="4552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 basic malware mechanics and examine distinct properties of viruses, worms, trojans, ransomware, rootkits, and botnets.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4376737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Examine network and web exploitation patterns including DDoS, social engineering, credential hijacking, SQLi, and XSS.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15150" y="2871787"/>
            <a:ext cx="44305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 Countermeasures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581775" y="3300412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3462337"/>
            <a:ext cx="4552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Analyze how organizations implement prevention policies, multi-layer monitoring systems, and proactive containment strategies.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4376737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 hands-on scanning, analytical triage, and trace monitoring workflows using enterprise tools.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9432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9432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266825" y="628650"/>
            <a:ext cx="10671333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Session Learning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3044"/>
          <a:stretch/>
        </p:blipFill>
        <p:spPr>
          <a:xfrm>
            <a:off x="0" y="208775"/>
            <a:ext cx="12192000" cy="66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076325" y="628650"/>
            <a:ext cx="5270658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What is Malware?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266825"/>
            <a:ext cx="5524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2638425"/>
            <a:ext cx="5800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Malicious Software Vectors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105150"/>
            <a:ext cx="5524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Malware represents any code developed to disrupt operations, damage hardware, steal sensitive payloads, or gain unauthorized administrative access.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019550"/>
            <a:ext cx="5524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Adversary motives have evolved beyond intellectual curiosity into persistent campaigns centered on financial ransom, geopolitical espionage, and corporate sabotage.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2439"/>
          <a:stretch/>
        </p:blipFill>
        <p:spPr>
          <a:xfrm>
            <a:off x="0" y="167025"/>
            <a:ext cx="12192000" cy="6690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0572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Virus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572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Malicious code that attaches itself to legitimate host files. Viruses strictly require explicit user execution (such as launching an app) to spread and damage assets.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7084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Worm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084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Autonomous threat vectors engineered to self-replicate and spread natively across network vulnerabilities without needing any host file or user interaction.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596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Trojan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59675" y="3743325"/>
            <a:ext cx="2775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Payloads masked as trusted or authentic software. Once executed by unsuspecting end-users, they establish persistent backdoors for remote access.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813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7813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277263" y="628650"/>
            <a:ext cx="1067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Primary Malware Taxonomy: Part 1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2286"/>
          <a:stretch/>
        </p:blipFill>
        <p:spPr>
          <a:xfrm>
            <a:off x="0" y="156575"/>
            <a:ext cx="12192000" cy="670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10572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Ransomware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572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Cryptographic attacks that lock file access or entire operating systems, extorting administrators for financial ransom payments to release the decryption keys.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7084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Spyware &amp; Keyloggers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7084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Passive diagnostic tools designed to silently monitor system interactions, capturing keystrokes, clipboard databases, or browser tokens without detection.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3596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Botnets &amp; Rootkits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3596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rootkits hide traces of execution deep below system levels, while botnets compromise hosts globally to launch massive coordinated actions.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813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813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7813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266825" y="628650"/>
            <a:ext cx="10671333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Primary Malware Taxonomy: Part 2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2743"/>
          <a:stretch/>
        </p:blipFill>
        <p:spPr>
          <a:xfrm>
            <a:off x="0" y="187900"/>
            <a:ext cx="12192000" cy="667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43125"/>
            <a:ext cx="5143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1000125" y="2143125"/>
            <a:ext cx="4905375" cy="10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Credential Hijacking Strategies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Password hacking encompasses sequential attempts using Dictionary tables, high-speed brute force dictionaries, or pre-exposed identity databases.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00125" y="3386137"/>
            <a:ext cx="4905375" cy="10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Spectrum of Phishing Tactics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Deceptive communications range from bulk emails targeting general databases to targeted spear-phishing and high-tier C-suite whaling campaigns.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00125" y="4629150"/>
            <a:ext cx="490537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Triage Labs &amp; Testing Command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Tools like hydra simulate dictionary runs inside test perimeters to audit password robustness against brute-force threats.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152650"/>
            <a:ext cx="5124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2143125"/>
            <a:ext cx="161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3386137"/>
            <a:ext cx="161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629150"/>
            <a:ext cx="161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210325" y="619113"/>
            <a:ext cx="1067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Social Engineering &amp; Password Threats</a:t>
            </a:r>
            <a:endParaRPr b="1" sz="28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2743"/>
          <a:stretch/>
        </p:blipFill>
        <p:spPr>
          <a:xfrm>
            <a:off x="0" y="187900"/>
            <a:ext cx="12192000" cy="667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43162"/>
            <a:ext cx="51435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43162"/>
            <a:ext cx="51435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7191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343025" y="2738437"/>
            <a:ext cx="44805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Service Denial (DoS &amp; DDoS)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057275" y="3167062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057275" y="3328987"/>
            <a:ext cx="4552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Mechanics: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Bombarding web resources with synthetic requests to deplete bandwidth, CPU cycles, or database connections.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057275" y="4243387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Moves from single host exhaustion (DoS) up to highly distributed botnet execution grids (DDoS).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915150" y="2738437"/>
            <a:ext cx="4430553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Injection &amp; Session Hijacking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6581775" y="3167062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581775" y="3328987"/>
            <a:ext cx="45529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Database Penetration: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SQL Injection (SQLi) targets insecure inputs using escape characters (' OR '1'='1) to dump databases.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581775" y="4252912"/>
            <a:ext cx="4552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Script Manipulation: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Cross-Site Scripting (XSS) introduces dangerous code scripts inside the user's active browser session.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809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80987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266825" y="628650"/>
            <a:ext cx="10671333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 Infrastructure &amp; Network Attacks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5330"/>
          <a:stretch/>
        </p:blipFill>
        <p:spPr>
          <a:xfrm>
            <a:off x="0" y="365350"/>
            <a:ext cx="12192000" cy="649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43125"/>
            <a:ext cx="33654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143125"/>
            <a:ext cx="33654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43125"/>
            <a:ext cx="33654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719137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1047750" y="4381500"/>
            <a:ext cx="32336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WannaCry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4762500"/>
            <a:ext cx="3365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Exploited Microsoft's SMB protocol vulnerability, spreading autonomously to freeze hospital operations and critical operations worldwide within hours.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98950" y="4381500"/>
            <a:ext cx="32336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NotPetya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413200" y="4762500"/>
            <a:ext cx="3365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Disguised as malicious tax updates, this state-level attack disrupted supply chain systems globally, wiping Master Boot Records and generating billions in damage.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397775" y="4381500"/>
            <a:ext cx="31836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Mirai Botnet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064400" y="4762500"/>
            <a:ext cx="3365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Hijacked millions of global consumer smart IoT devices using hardcoded factory credentials, generating historic DDoS traffic against domain registrars.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2152650"/>
            <a:ext cx="3346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4291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22725" y="2152650"/>
            <a:ext cx="33464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13200" y="44291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73925" y="2152650"/>
            <a:ext cx="3346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64400" y="44291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219200" y="628650"/>
            <a:ext cx="107213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Real-World Case Studies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4871"/>
          <a:stretch/>
        </p:blipFill>
        <p:spPr>
          <a:xfrm>
            <a:off x="0" y="334025"/>
            <a:ext cx="12192000" cy="6523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47862"/>
            <a:ext cx="10668000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719137"/>
            <a:ext cx="409575" cy="361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1"/>
          <p:cNvGraphicFramePr/>
          <p:nvPr/>
        </p:nvGraphicFramePr>
        <p:xfrm>
          <a:off x="771525" y="1957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{E5A1811B-3495-4F26-AF44-05E25336E33B}</a:tableStyleId>
              </a:tblPr>
              <a:tblGrid>
                <a:gridCol w="2662225"/>
                <a:gridCol w="4791975"/>
                <a:gridCol w="3194750"/>
              </a:tblGrid>
              <a:tr h="9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Defensive Pillar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Core Strategy &amp; Mechanisms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Operational Tooling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Prevention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Harden surfaces via prompt patch deployments, strict authentication boundaries (MFA), offline data preservation, and security awareness.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Anti-Malware MFA AutoPatch</a:t>
                      </a:r>
                      <a:b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Observe perimeter borders via active packet matching, trace logs, unified metric aggregations, and unusual pattern anomalies.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IDS/IPS SIEM Platforms EDR Agents</a:t>
                      </a:r>
                      <a:b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9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Enact modern containment frameworks to disconnect infected hosts instantly, analyze trace timelines, and reconstruct from clean states.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ISOLATION Backup Restores</a:t>
                      </a:r>
                      <a:b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1"/>
          <p:cNvSpPr/>
          <p:nvPr/>
        </p:nvSpPr>
        <p:spPr>
          <a:xfrm>
            <a:off x="771525" y="369570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433762" y="3695700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8225730" y="3695700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71525" y="481965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433762" y="4819650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8225730" y="4819650"/>
            <a:ext cx="3194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4330" y="3021806"/>
            <a:ext cx="99060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1130" y="3021806"/>
            <a:ext cx="4667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4055" y="3021806"/>
            <a:ext cx="7715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330" y="4145756"/>
            <a:ext cx="63817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8705" y="4145756"/>
            <a:ext cx="1076325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21230" y="4145756"/>
            <a:ext cx="85725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54330" y="5269706"/>
            <a:ext cx="85725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7780" y="5269706"/>
            <a:ext cx="1114425" cy="2619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314450" y="628650"/>
            <a:ext cx="10621327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Enterprise Defense-in-Depth Lifecycle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2591"/>
          <a:stretch/>
        </p:blipFill>
        <p:spPr>
          <a:xfrm>
            <a:off x="0" y="177450"/>
            <a:ext cx="12192000" cy="6680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38400"/>
            <a:ext cx="33654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719137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0572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Phishing Analysis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572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Inspect raw email headers to cross-reference DKIM configurations, examine suspicious attachment namespaces, and decode fake urgency messaging.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7084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VirusTotal Engine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708475" y="3743325"/>
            <a:ext cx="2774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 unique file signatures, perform hash queries, and consult multi-engine security reports to assess binary risk levels.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359675" y="329565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Wireshark Triage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359675" y="3743325"/>
            <a:ext cx="27749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Observe HTTP protocol interactions, look for unusual non-standard port communications, and pinpoint beacon signals typical of backdoor exploits.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1219200" y="628650"/>
            <a:ext cx="107213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Hands-On Operational Laboratories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5509"/>
          <a:stretch/>
        </p:blipFill>
        <p:spPr>
          <a:xfrm>
            <a:off x="0" y="229650"/>
            <a:ext cx="12192000" cy="662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719137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2000250" y="2719387"/>
            <a:ext cx="8620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Target Incident Analysis Paper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Research WannaCry, NotPetya, or the Mirai Botnet. Outline the technical infection path, estimated financial damages, and specific vulnerabilities targeted.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2000250" y="3538537"/>
            <a:ext cx="8620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Structural Defense Architecture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Produce a 3-step mitigation playbook to insulate a modern enterprise network against your chosen threat scenario.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2000250" y="4357687"/>
            <a:ext cx="86201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Signatures &amp; Hashes Check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Generate and submit the SHA-256 hash of three standard executables on your machine using shell tools (e.g., sha256sum or CertUtil).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27289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35480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625" y="43672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1314450" y="628650"/>
            <a:ext cx="10621327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Practical Homework Assignment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